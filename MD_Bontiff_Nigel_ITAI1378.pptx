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A1BE8A-3703-4408-A911-1FE965638623}">
  <a:tblStyle styleId="{EAA1BE8A-3703-4408-A911-1FE96563862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Hi, I’m Nigel Bontiff. My project is a chest X-ray classifier using transfer learning. I will build a Google Colab notebook that predicts whether a sample image belongs to the normal or pneumonia category. This is a Tier 1 project because one model handles one task. I chose it because I’m interested in healthcare and want to understand how computer vision can work with medical images.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Course Midterm Blueprint and Project Guide, supplied by instructor.</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Students learning medical image classification need a clear way to connect images with predictions. My notebook will bring the image and prediction together, with the supplied label available for comparison. The main users are students exploring healthcare AI. The goal is to make the process easier to follow and to show where the model makes mistakes. This is an educational demonstration, not a tool for diagnosing patients.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Proposed educational need and intended use, defined for this project.</a:t>
            </a:r>
            <a:endParaRPr/>
          </a:p>
        </p:txBody>
      </p:sp>
      <p:sp>
        <p:nvSpPr>
          <p:cNvPr id="23" name="Google Shape;2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workflow starts when the user selects an image. The notebook will check that the file can be opened, convert it into the format ResNet50 expects, and prepare a 224 by 224 pixel input. The adapted model will then produce scores for the two categories. Finally, the notebook will display the image, predicted category, and model score. For labeled examples, the user can compare the result with the reference label. A score reflects the model’s output. It is not a confirmed probability that a patient has pneumonia.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https://docs.pytorch.org/vision/stable/models/generated/torchvision.models.resnet50.html</a:t>
            </a:r>
            <a:endParaRPr/>
          </a:p>
        </p:txBody>
      </p:sp>
      <p:sp>
        <p:nvSpPr>
          <p:cNvPr id="38" name="Google Shape;3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 will use binary image classification with ResNet50, a convolutional neural network, through PyTorch and torchvision. Transfer learning means starting with features learned from another image dataset and adapting them to this task. I will replace the model’s last classification layer and train that layer first while keeping the earlier layers fixed. This approach fits Tier 1 and gives me a starting point without training an entire network from scratch.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https://docs.pytorch.org/vision/stable/models/generated/torchvision.models.resnet50.html</a:t>
            </a:r>
            <a:endParaRPr/>
          </a:p>
          <a:p>
            <a:pPr indent="0" lvl="0" marL="0" rtl="0" algn="l">
              <a:spcBef>
                <a:spcPts val="0"/>
              </a:spcBef>
              <a:spcAft>
                <a:spcPts val="0"/>
              </a:spcAft>
              <a:buNone/>
            </a:pPr>
            <a:r>
              <a:rPr lang="en-US" sz="1200"/>
              <a:t>https://docs.pytorch.org/tutorials/beginner/transfer_learning_tutorial.html</a:t>
            </a:r>
            <a:endParaRPr/>
          </a:p>
          <a:p>
            <a:pPr indent="0" lvl="0" marL="0" rtl="0" algn="l">
              <a:spcBef>
                <a:spcPts val="0"/>
              </a:spcBef>
              <a:spcAft>
                <a:spcPts val="0"/>
              </a:spcAft>
              <a:buNone/>
            </a:pPr>
            <a:r>
              <a:rPr lang="en-US" sz="1200"/>
              <a:t>Course Technical Companion, sections 1 and 2.</a:t>
            </a:r>
            <a:endParaRPr/>
          </a:p>
        </p:txBody>
      </p:sp>
      <p:sp>
        <p:nvSpPr>
          <p:cNvPr id="58" name="Google Shape;5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My data will come from Paul Mooney’s chest X-ray dataset on Kaggle, a source listed in the course guide. It contains about 5,800 images, with normal and pneumonia labels already provided. The source describes children ages one through five, so I will keep that limit clear. I’ll check the files, reserve the test set, and build a suitable validation split from training data. I’ll also check for duplicates and patient overlap where identifiers are available. Exact usable counts will follow the file check.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https://www.kaggle.com/datasets/paultimothymooney/chest-xray-pneumonia</a:t>
            </a:r>
            <a:endParaRPr/>
          </a:p>
          <a:p>
            <a:pPr indent="0" lvl="0" marL="0" rtl="0" algn="l">
              <a:spcBef>
                <a:spcPts val="0"/>
              </a:spcBef>
              <a:spcAft>
                <a:spcPts val="0"/>
              </a:spcAft>
              <a:buNone/>
            </a:pPr>
            <a:r>
              <a:rPr lang="en-US" sz="1200"/>
              <a:t>Kaggle data card: description lists 5,863 images; Data Explorer lists 5,856 files. Use approximately 5,800 until the downloaded files are audited. Accessed September 26, 2026.</a:t>
            </a:r>
            <a:endParaRPr/>
          </a:p>
        </p:txBody>
      </p:sp>
      <p:sp>
        <p:nvSpPr>
          <p:cNvPr id="68" name="Google Shape;6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My primary goal is at least 85 percent accuracy, which means the correct category for at least 85 out of every 100 test images. My secondary goal is at least 90 percent pneumonia recall. That measures how many pneumonia-labeled images the model correctly identifies. I will also report the confusion matrix and normal-class recall so the results show mistakes in both categories. I’ll use validation data to choose settings and reserve the test set for the final evaluation. These numbers are targets, not results I have already achieved.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Project targets selected by Nigel Bontiff on September 26, 2026. No model results measured yet.</a:t>
            </a:r>
            <a:endParaRPr/>
          </a:p>
          <a:p>
            <a:pPr indent="0" lvl="0" marL="0" rtl="0" algn="l">
              <a:spcBef>
                <a:spcPts val="0"/>
              </a:spcBef>
              <a:spcAft>
                <a:spcPts val="0"/>
              </a:spcAft>
              <a:buNone/>
            </a:pPr>
            <a:r>
              <a:rPr lang="en-US" sz="1200"/>
              <a:t>Course Technical Companion, Improve and Measure section.</a:t>
            </a:r>
            <a:endParaRPr/>
          </a:p>
        </p:txBody>
      </p:sp>
      <p:sp>
        <p:nvSpPr>
          <p:cNvPr id="86" name="Google Shape;8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plan follows the course’s five phases. After the Blueprint, week eleven focuses on getting images through a pretrained model and displaying output. That first run checks the pipeline. It will not count as a trained pneumonia classifier. In weeks twelve and thirteen, I’ll prepare the data, adapt ResNet50, and finish the notebook’s prediction display. Week fourteen is for improvement and evaluation. In week fifteen, I’ll organize the results and record the final presentation and demo. I plan to work about two and a half hours on weekdays, with some Saturdays available.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Course Midterm Blueprint, 16-week milestone table. Week numbers are course milestones, not inferred calendar dates.</a:t>
            </a:r>
            <a:endParaRPr/>
          </a:p>
        </p:txBody>
      </p:sp>
      <p:sp>
        <p:nvSpPr>
          <p:cNvPr id="97" name="Google Shape;97;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 first risk is misleading performance from class imbalance, repeated images, or patterns that do not generalize. I will check the splits, compare both categories, and review failed predictions. If performance is weak, I’ll make a focused change using validation data and report the final result honestly. The second risk is Colab resource limits. My fallback is smaller batches and training only the final layer, with saved checkpoints. The planned cost is zero dollars using the free Colab tier and open-source tools. My goal is a working application that I can explain and evaluate clearly.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Course Project Guide, resources and recovery plans. Risk controls are the proposed project design.</a:t>
            </a:r>
            <a:endParaRPr/>
          </a:p>
        </p:txBody>
      </p:sp>
      <p:sp>
        <p:nvSpPr>
          <p:cNvPr id="107" name="Google Shape;10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kaggle.com/datasets/paultimothymooney/chest-xray-pneumonia"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609600" y="1333500"/>
            <a:ext cx="10953750" cy="80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200">
                <a:solidFill>
                  <a:srgbClr val="172C40"/>
                </a:solidFill>
                <a:latin typeface="Verdana"/>
                <a:ea typeface="Verdana"/>
                <a:cs typeface="Verdana"/>
                <a:sym typeface="Verdana"/>
              </a:rPr>
              <a:t>Chest X-Ray Classification</a:t>
            </a:r>
            <a:endParaRPr/>
          </a:p>
        </p:txBody>
      </p:sp>
      <p:sp>
        <p:nvSpPr>
          <p:cNvPr id="17" name="Google Shape;17;p3"/>
          <p:cNvSpPr/>
          <p:nvPr/>
        </p:nvSpPr>
        <p:spPr>
          <a:xfrm>
            <a:off x="609600" y="2257425"/>
            <a:ext cx="106680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3450">
                <a:solidFill>
                  <a:srgbClr val="176A76"/>
                </a:solidFill>
                <a:latin typeface="Verdana"/>
                <a:ea typeface="Verdana"/>
                <a:cs typeface="Verdana"/>
                <a:sym typeface="Verdana"/>
              </a:rPr>
              <a:t>Using Transfer Learning</a:t>
            </a:r>
            <a:endParaRPr/>
          </a:p>
        </p:txBody>
      </p:sp>
      <p:sp>
        <p:nvSpPr>
          <p:cNvPr id="18" name="Google Shape;18;p3"/>
          <p:cNvSpPr/>
          <p:nvPr/>
        </p:nvSpPr>
        <p:spPr>
          <a:xfrm>
            <a:off x="647700" y="4019550"/>
            <a:ext cx="102870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72C40"/>
                </a:solidFill>
                <a:latin typeface="Verdana"/>
                <a:ea typeface="Verdana"/>
                <a:cs typeface="Verdana"/>
                <a:sym typeface="Verdana"/>
              </a:rPr>
              <a:t>Nigel Bontiff</a:t>
            </a:r>
            <a:endParaRPr/>
          </a:p>
        </p:txBody>
      </p:sp>
      <p:sp>
        <p:nvSpPr>
          <p:cNvPr id="19" name="Google Shape;19;p3"/>
          <p:cNvSpPr/>
          <p:nvPr/>
        </p:nvSpPr>
        <p:spPr>
          <a:xfrm>
            <a:off x="647700" y="4657725"/>
            <a:ext cx="9525000" cy="14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solidFill>
                  <a:srgbClr val="475969"/>
                </a:solidFill>
                <a:latin typeface="Verdana"/>
                <a:ea typeface="Verdana"/>
                <a:cs typeface="Verdana"/>
                <a:sym typeface="Verdana"/>
              </a:rPr>
              <a:t>ITAI 1378 Computer Vision</a:t>
            </a:r>
            <a:endParaRPr/>
          </a:p>
          <a:p>
            <a:pPr indent="0" lvl="0" marL="0" marR="0" rtl="0" algn="l">
              <a:spcBef>
                <a:spcPts val="0"/>
              </a:spcBef>
              <a:spcAft>
                <a:spcPts val="0"/>
              </a:spcAft>
              <a:buNone/>
            </a:pPr>
            <a:r>
              <a:rPr lang="en-US" sz="2025">
                <a:solidFill>
                  <a:srgbClr val="475969"/>
                </a:solidFill>
                <a:latin typeface="Verdana"/>
                <a:ea typeface="Verdana"/>
                <a:cs typeface="Verdana"/>
                <a:sym typeface="Verdana"/>
              </a:rPr>
              <a:t>Midterm Blueprint</a:t>
            </a:r>
            <a:endParaRPr/>
          </a:p>
          <a:p>
            <a:pPr indent="0" lvl="0" marL="0" marR="0" rtl="0" algn="l">
              <a:spcBef>
                <a:spcPts val="0"/>
              </a:spcBef>
              <a:spcAft>
                <a:spcPts val="0"/>
              </a:spcAft>
              <a:buNone/>
            </a:pPr>
            <a:r>
              <a:rPr lang="en-US" sz="2025">
                <a:solidFill>
                  <a:srgbClr val="475969"/>
                </a:solidFill>
                <a:latin typeface="Verdana"/>
                <a:ea typeface="Verdana"/>
                <a:cs typeface="Verdana"/>
                <a:sym typeface="Verdana"/>
              </a:rPr>
              <a:t>Tier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The problem</a:t>
            </a:r>
            <a:endParaRPr/>
          </a:p>
        </p:txBody>
      </p:sp>
      <p:sp>
        <p:nvSpPr>
          <p:cNvPr id="26" name="Google Shape;26;p4"/>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2</a:t>
            </a:r>
            <a:endParaRPr/>
          </a:p>
        </p:txBody>
      </p:sp>
      <p:sp>
        <p:nvSpPr>
          <p:cNvPr id="27" name="Google Shape;27;p4"/>
          <p:cNvSpPr/>
          <p:nvPr/>
        </p:nvSpPr>
        <p:spPr>
          <a:xfrm>
            <a:off x="609600" y="1495425"/>
            <a:ext cx="10953750"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75">
                <a:solidFill>
                  <a:srgbClr val="172C40"/>
                </a:solidFill>
                <a:latin typeface="Verdana"/>
                <a:ea typeface="Verdana"/>
                <a:cs typeface="Verdana"/>
                <a:sym typeface="Verdana"/>
              </a:rPr>
              <a:t>Students need a clear way to connect an X-ray</a:t>
            </a:r>
            <a:endParaRPr/>
          </a:p>
          <a:p>
            <a:pPr indent="0" lvl="0" marL="0" marR="0" rtl="0" algn="l">
              <a:spcBef>
                <a:spcPts val="0"/>
              </a:spcBef>
              <a:spcAft>
                <a:spcPts val="0"/>
              </a:spcAft>
              <a:buNone/>
            </a:pPr>
            <a:r>
              <a:rPr b="1" lang="en-US" sz="2775">
                <a:solidFill>
                  <a:srgbClr val="172C40"/>
                </a:solidFill>
                <a:latin typeface="Verdana"/>
                <a:ea typeface="Verdana"/>
                <a:cs typeface="Verdana"/>
                <a:sym typeface="Verdana"/>
              </a:rPr>
              <a:t>with a model’s prediction.</a:t>
            </a:r>
            <a:endParaRPr/>
          </a:p>
        </p:txBody>
      </p:sp>
      <p:sp>
        <p:nvSpPr>
          <p:cNvPr id="28" name="Google Shape;28;p4"/>
          <p:cNvSpPr/>
          <p:nvPr/>
        </p:nvSpPr>
        <p:spPr>
          <a:xfrm>
            <a:off x="609600" y="3009900"/>
            <a:ext cx="2095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The user</a:t>
            </a:r>
            <a:endParaRPr/>
          </a:p>
        </p:txBody>
      </p:sp>
      <p:sp>
        <p:nvSpPr>
          <p:cNvPr id="29" name="Google Shape;29;p4"/>
          <p:cNvSpPr/>
          <p:nvPr/>
        </p:nvSpPr>
        <p:spPr>
          <a:xfrm>
            <a:off x="3009900" y="3009900"/>
            <a:ext cx="809625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50">
                <a:solidFill>
                  <a:srgbClr val="172C40"/>
                </a:solidFill>
                <a:latin typeface="Verdana"/>
                <a:ea typeface="Verdana"/>
                <a:cs typeface="Verdana"/>
                <a:sym typeface="Verdana"/>
              </a:rPr>
              <a:t>Students exploring healthcare AI</a:t>
            </a:r>
            <a:endParaRPr/>
          </a:p>
        </p:txBody>
      </p:sp>
      <p:sp>
        <p:nvSpPr>
          <p:cNvPr id="30" name="Google Shape;30;p4"/>
          <p:cNvSpPr/>
          <p:nvPr/>
        </p:nvSpPr>
        <p:spPr>
          <a:xfrm>
            <a:off x="609600" y="3829050"/>
            <a:ext cx="2095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The need</a:t>
            </a:r>
            <a:endParaRPr/>
          </a:p>
        </p:txBody>
      </p:sp>
      <p:sp>
        <p:nvSpPr>
          <p:cNvPr id="31" name="Google Shape;31;p4"/>
          <p:cNvSpPr/>
          <p:nvPr/>
        </p:nvSpPr>
        <p:spPr>
          <a:xfrm>
            <a:off x="3009900" y="3762375"/>
            <a:ext cx="8286750" cy="933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50">
                <a:solidFill>
                  <a:srgbClr val="172C40"/>
                </a:solidFill>
                <a:latin typeface="Verdana"/>
                <a:ea typeface="Verdana"/>
                <a:cs typeface="Verdana"/>
                <a:sym typeface="Verdana"/>
              </a:rPr>
              <a:t>An application that shows the image, prediction,</a:t>
            </a:r>
            <a:endParaRPr/>
          </a:p>
          <a:p>
            <a:pPr indent="0" lvl="0" marL="0" marR="0" rtl="0" algn="l">
              <a:spcBef>
                <a:spcPts val="0"/>
              </a:spcBef>
              <a:spcAft>
                <a:spcPts val="0"/>
              </a:spcAft>
              <a:buNone/>
            </a:pPr>
            <a:r>
              <a:rPr lang="en-US" sz="2250">
                <a:solidFill>
                  <a:srgbClr val="172C40"/>
                </a:solidFill>
                <a:latin typeface="Verdana"/>
                <a:ea typeface="Verdana"/>
                <a:cs typeface="Verdana"/>
                <a:sym typeface="Verdana"/>
              </a:rPr>
              <a:t>and reference label together</a:t>
            </a:r>
            <a:endParaRPr/>
          </a:p>
        </p:txBody>
      </p:sp>
      <p:sp>
        <p:nvSpPr>
          <p:cNvPr id="32" name="Google Shape;32;p4"/>
          <p:cNvSpPr/>
          <p:nvPr/>
        </p:nvSpPr>
        <p:spPr>
          <a:xfrm>
            <a:off x="609600" y="4914900"/>
            <a:ext cx="2095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The value</a:t>
            </a:r>
            <a:endParaRPr/>
          </a:p>
        </p:txBody>
      </p:sp>
      <p:sp>
        <p:nvSpPr>
          <p:cNvPr id="33" name="Google Shape;33;p4"/>
          <p:cNvSpPr/>
          <p:nvPr/>
        </p:nvSpPr>
        <p:spPr>
          <a:xfrm>
            <a:off x="3009900" y="4914900"/>
            <a:ext cx="828675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50">
                <a:solidFill>
                  <a:srgbClr val="172C40"/>
                </a:solidFill>
                <a:latin typeface="Verdana"/>
                <a:ea typeface="Verdana"/>
                <a:cs typeface="Verdana"/>
                <a:sym typeface="Verdana"/>
              </a:rPr>
              <a:t>Follow the process and examine mistakes</a:t>
            </a:r>
            <a:endParaRPr/>
          </a:p>
        </p:txBody>
      </p:sp>
      <p:sp>
        <p:nvSpPr>
          <p:cNvPr id="34" name="Google Shape;34;p4"/>
          <p:cNvSpPr/>
          <p:nvPr/>
        </p:nvSpPr>
        <p:spPr>
          <a:xfrm>
            <a:off x="609600" y="6048375"/>
            <a:ext cx="102870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50">
                <a:solidFill>
                  <a:srgbClr val="475969"/>
                </a:solidFill>
                <a:latin typeface="Verdana"/>
                <a:ea typeface="Verdana"/>
                <a:cs typeface="Verdana"/>
                <a:sym typeface="Verdana"/>
              </a:rPr>
              <a:t>Educational demonstration. Not intended for patient diagnosis.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cxnSp>
        <p:nvCxnSpPr>
          <p:cNvPr id="40" name="Google Shape;40;p5"/>
          <p:cNvCxnSpPr>
            <a:stCxn id="41" idx="3"/>
            <a:endCxn id="42" idx="1"/>
          </p:cNvCxnSpPr>
          <p:nvPr/>
        </p:nvCxnSpPr>
        <p:spPr>
          <a:xfrm>
            <a:off x="8629650" y="3138488"/>
            <a:ext cx="609600" cy="0"/>
          </a:xfrm>
          <a:prstGeom prst="straightConnector1">
            <a:avLst/>
          </a:prstGeom>
          <a:noFill/>
          <a:ln cap="flat" cmpd="sng" w="23800">
            <a:solidFill>
              <a:srgbClr val="176A76"/>
            </a:solidFill>
            <a:prstDash val="solid"/>
            <a:round/>
            <a:headEnd len="sm" w="sm" type="none"/>
            <a:tailEnd len="med" w="med" type="triangle"/>
          </a:ln>
        </p:spPr>
      </p:cxnSp>
      <p:cxnSp>
        <p:nvCxnSpPr>
          <p:cNvPr id="43" name="Google Shape;43;p5"/>
          <p:cNvCxnSpPr>
            <a:stCxn id="44" idx="3"/>
            <a:endCxn id="41" idx="1"/>
          </p:cNvCxnSpPr>
          <p:nvPr/>
        </p:nvCxnSpPr>
        <p:spPr>
          <a:xfrm>
            <a:off x="5753100" y="3138488"/>
            <a:ext cx="609600" cy="0"/>
          </a:xfrm>
          <a:prstGeom prst="straightConnector1">
            <a:avLst/>
          </a:prstGeom>
          <a:noFill/>
          <a:ln cap="flat" cmpd="sng" w="23800">
            <a:solidFill>
              <a:srgbClr val="176A76"/>
            </a:solidFill>
            <a:prstDash val="solid"/>
            <a:round/>
            <a:headEnd len="sm" w="sm" type="none"/>
            <a:tailEnd len="med" w="med" type="triangle"/>
          </a:ln>
        </p:spPr>
      </p:cxnSp>
      <p:cxnSp>
        <p:nvCxnSpPr>
          <p:cNvPr id="45" name="Google Shape;45;p5"/>
          <p:cNvCxnSpPr>
            <a:stCxn id="46" idx="3"/>
            <a:endCxn id="44" idx="1"/>
          </p:cNvCxnSpPr>
          <p:nvPr/>
        </p:nvCxnSpPr>
        <p:spPr>
          <a:xfrm>
            <a:off x="2876550" y="3138488"/>
            <a:ext cx="609600" cy="0"/>
          </a:xfrm>
          <a:prstGeom prst="straightConnector1">
            <a:avLst/>
          </a:prstGeom>
          <a:noFill/>
          <a:ln cap="flat" cmpd="sng" w="23800">
            <a:solidFill>
              <a:srgbClr val="176A76"/>
            </a:solidFill>
            <a:prstDash val="solid"/>
            <a:round/>
            <a:headEnd len="sm" w="sm" type="none"/>
            <a:tailEnd len="med" w="med" type="triangle"/>
          </a:ln>
        </p:spPr>
      </p:cxnSp>
      <p:sp>
        <p:nvSpPr>
          <p:cNvPr id="47" name="Google Shape;47;p5"/>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Solution workflow</a:t>
            </a:r>
            <a:endParaRPr/>
          </a:p>
        </p:txBody>
      </p:sp>
      <p:sp>
        <p:nvSpPr>
          <p:cNvPr id="48" name="Google Shape;48;p5"/>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3</a:t>
            </a:r>
            <a:endParaRPr/>
          </a:p>
        </p:txBody>
      </p:sp>
      <p:sp>
        <p:nvSpPr>
          <p:cNvPr id="49" name="Google Shape;49;p5"/>
          <p:cNvSpPr/>
          <p:nvPr/>
        </p:nvSpPr>
        <p:spPr>
          <a:xfrm>
            <a:off x="609600" y="1409700"/>
            <a:ext cx="1095375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325">
                <a:solidFill>
                  <a:srgbClr val="172C40"/>
                </a:solidFill>
                <a:latin typeface="Verdana"/>
                <a:ea typeface="Verdana"/>
                <a:cs typeface="Verdana"/>
                <a:sym typeface="Verdana"/>
              </a:rPr>
              <a:t>The notebook classifies a selected X-ray and displays its result.</a:t>
            </a:r>
            <a:endParaRPr/>
          </a:p>
        </p:txBody>
      </p:sp>
      <p:sp>
        <p:nvSpPr>
          <p:cNvPr id="46" name="Google Shape;46;p5"/>
          <p:cNvSpPr/>
          <p:nvPr/>
        </p:nvSpPr>
        <p:spPr>
          <a:xfrm>
            <a:off x="609600" y="2686050"/>
            <a:ext cx="2266950" cy="904875"/>
          </a:xfrm>
          <a:prstGeom prst="rect">
            <a:avLst/>
          </a:prstGeom>
          <a:solidFill>
            <a:srgbClr val="EDF4F6"/>
          </a:solidFill>
          <a:ln cap="flat" cmpd="sng" w="19050">
            <a:solidFill>
              <a:srgbClr val="176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0">
                <a:solidFill>
                  <a:srgbClr val="172C40"/>
                </a:solidFill>
                <a:latin typeface="Verdana"/>
                <a:ea typeface="Verdana"/>
                <a:cs typeface="Verdana"/>
                <a:sym typeface="Verdana"/>
              </a:rPr>
              <a:t>Select image</a:t>
            </a:r>
            <a:endParaRPr/>
          </a:p>
        </p:txBody>
      </p:sp>
      <p:sp>
        <p:nvSpPr>
          <p:cNvPr id="44" name="Google Shape;44;p5"/>
          <p:cNvSpPr/>
          <p:nvPr/>
        </p:nvSpPr>
        <p:spPr>
          <a:xfrm>
            <a:off x="3486150" y="2686050"/>
            <a:ext cx="2266950" cy="904875"/>
          </a:xfrm>
          <a:prstGeom prst="rect">
            <a:avLst/>
          </a:prstGeom>
          <a:solidFill>
            <a:srgbClr val="EDF4F6"/>
          </a:solidFill>
          <a:ln cap="flat" cmpd="sng" w="19050">
            <a:solidFill>
              <a:srgbClr val="176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0">
                <a:solidFill>
                  <a:srgbClr val="172C40"/>
                </a:solidFill>
                <a:latin typeface="Verdana"/>
                <a:ea typeface="Verdana"/>
                <a:cs typeface="Verdana"/>
                <a:sym typeface="Verdana"/>
              </a:rPr>
              <a:t>Prepare input</a:t>
            </a:r>
            <a:endParaRPr/>
          </a:p>
        </p:txBody>
      </p:sp>
      <p:sp>
        <p:nvSpPr>
          <p:cNvPr id="41" name="Google Shape;41;p5"/>
          <p:cNvSpPr/>
          <p:nvPr/>
        </p:nvSpPr>
        <p:spPr>
          <a:xfrm>
            <a:off x="6362700" y="2686050"/>
            <a:ext cx="2266950" cy="904875"/>
          </a:xfrm>
          <a:prstGeom prst="rect">
            <a:avLst/>
          </a:prstGeom>
          <a:solidFill>
            <a:srgbClr val="EDF4F6"/>
          </a:solidFill>
          <a:ln cap="flat" cmpd="sng" w="19050">
            <a:solidFill>
              <a:srgbClr val="176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0">
                <a:solidFill>
                  <a:srgbClr val="172C40"/>
                </a:solidFill>
                <a:latin typeface="Verdana"/>
                <a:ea typeface="Verdana"/>
                <a:cs typeface="Verdana"/>
                <a:sym typeface="Verdana"/>
              </a:rPr>
              <a:t>ResNet50</a:t>
            </a:r>
            <a:endParaRPr/>
          </a:p>
        </p:txBody>
      </p:sp>
      <p:sp>
        <p:nvSpPr>
          <p:cNvPr id="42" name="Google Shape;42;p5"/>
          <p:cNvSpPr/>
          <p:nvPr/>
        </p:nvSpPr>
        <p:spPr>
          <a:xfrm>
            <a:off x="9239250" y="2686050"/>
            <a:ext cx="2266950" cy="904875"/>
          </a:xfrm>
          <a:prstGeom prst="rect">
            <a:avLst/>
          </a:prstGeom>
          <a:solidFill>
            <a:srgbClr val="EDF4F6"/>
          </a:solidFill>
          <a:ln cap="flat" cmpd="sng" w="19050">
            <a:solidFill>
              <a:srgbClr val="176A7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0">
                <a:solidFill>
                  <a:srgbClr val="172C40"/>
                </a:solidFill>
                <a:latin typeface="Verdana"/>
                <a:ea typeface="Verdana"/>
                <a:cs typeface="Verdana"/>
                <a:sym typeface="Verdana"/>
              </a:rPr>
              <a:t>View result</a:t>
            </a:r>
            <a:endParaRPr/>
          </a:p>
        </p:txBody>
      </p:sp>
      <p:sp>
        <p:nvSpPr>
          <p:cNvPr id="50" name="Google Shape;50;p5"/>
          <p:cNvSpPr/>
          <p:nvPr/>
        </p:nvSpPr>
        <p:spPr>
          <a:xfrm>
            <a:off x="609600" y="3914775"/>
            <a:ext cx="2266950" cy="1238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875">
                <a:solidFill>
                  <a:srgbClr val="475969"/>
                </a:solidFill>
                <a:latin typeface="Verdana"/>
                <a:ea typeface="Verdana"/>
                <a:cs typeface="Verdana"/>
                <a:sym typeface="Verdana"/>
              </a:rPr>
              <a:t>Open and check</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the image file</a:t>
            </a:r>
            <a:endParaRPr/>
          </a:p>
        </p:txBody>
      </p:sp>
      <p:sp>
        <p:nvSpPr>
          <p:cNvPr id="51" name="Google Shape;51;p5"/>
          <p:cNvSpPr/>
          <p:nvPr/>
        </p:nvSpPr>
        <p:spPr>
          <a:xfrm>
            <a:off x="3486150" y="3914775"/>
            <a:ext cx="2266950" cy="1238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875">
                <a:solidFill>
                  <a:srgbClr val="475969"/>
                </a:solidFill>
                <a:latin typeface="Verdana"/>
                <a:ea typeface="Verdana"/>
                <a:cs typeface="Verdana"/>
                <a:sym typeface="Verdana"/>
              </a:rPr>
              <a:t>Three channels</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224 × 224 input</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Normalize pixels</a:t>
            </a:r>
            <a:endParaRPr/>
          </a:p>
        </p:txBody>
      </p:sp>
      <p:sp>
        <p:nvSpPr>
          <p:cNvPr id="52" name="Google Shape;52;p5"/>
          <p:cNvSpPr/>
          <p:nvPr/>
        </p:nvSpPr>
        <p:spPr>
          <a:xfrm>
            <a:off x="6362700" y="3914775"/>
            <a:ext cx="2266950" cy="1238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875">
                <a:solidFill>
                  <a:srgbClr val="475969"/>
                </a:solidFill>
                <a:latin typeface="Verdana"/>
                <a:ea typeface="Verdana"/>
                <a:cs typeface="Verdana"/>
                <a:sym typeface="Verdana"/>
              </a:rPr>
              <a:t>One adapted</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classification</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model</a:t>
            </a:r>
            <a:endParaRPr/>
          </a:p>
        </p:txBody>
      </p:sp>
      <p:sp>
        <p:nvSpPr>
          <p:cNvPr id="53" name="Google Shape;53;p5"/>
          <p:cNvSpPr/>
          <p:nvPr/>
        </p:nvSpPr>
        <p:spPr>
          <a:xfrm>
            <a:off x="9239250" y="3914775"/>
            <a:ext cx="2266950" cy="1238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sz="1875">
                <a:solidFill>
                  <a:srgbClr val="475969"/>
                </a:solidFill>
                <a:latin typeface="Verdana"/>
                <a:ea typeface="Verdana"/>
                <a:cs typeface="Verdana"/>
                <a:sym typeface="Verdana"/>
              </a:rPr>
              <a:t>Image, category,</a:t>
            </a:r>
            <a:endParaRPr/>
          </a:p>
          <a:p>
            <a:pPr indent="0" lvl="0" marL="0" marR="0" rtl="0" algn="ctr">
              <a:spcBef>
                <a:spcPts val="0"/>
              </a:spcBef>
              <a:spcAft>
                <a:spcPts val="0"/>
              </a:spcAft>
              <a:buNone/>
            </a:pPr>
            <a:r>
              <a:rPr lang="en-US" sz="1875">
                <a:solidFill>
                  <a:srgbClr val="475969"/>
                </a:solidFill>
                <a:latin typeface="Verdana"/>
                <a:ea typeface="Verdana"/>
                <a:cs typeface="Verdana"/>
                <a:sym typeface="Verdana"/>
              </a:rPr>
              <a:t>and model score</a:t>
            </a:r>
            <a:endParaRPr/>
          </a:p>
        </p:txBody>
      </p:sp>
      <p:sp>
        <p:nvSpPr>
          <p:cNvPr id="54" name="Google Shape;54;p5"/>
          <p:cNvSpPr/>
          <p:nvPr/>
        </p:nvSpPr>
        <p:spPr>
          <a:xfrm>
            <a:off x="609600" y="5562600"/>
            <a:ext cx="108585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solidFill>
                  <a:srgbClr val="172C40"/>
                </a:solidFill>
                <a:latin typeface="Verdana"/>
                <a:ea typeface="Verdana"/>
                <a:cs typeface="Verdana"/>
                <a:sym typeface="Verdana"/>
              </a:rPr>
              <a:t>For labeled samples, compare the prediction with the reference label.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6"/>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Technical approach</a:t>
            </a:r>
            <a:endParaRPr/>
          </a:p>
        </p:txBody>
      </p:sp>
      <p:sp>
        <p:nvSpPr>
          <p:cNvPr id="61" name="Google Shape;61;p6"/>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4</a:t>
            </a:r>
            <a:endParaRPr/>
          </a:p>
        </p:txBody>
      </p:sp>
      <p:graphicFrame>
        <p:nvGraphicFramePr>
          <p:cNvPr id="62" name="Google Shape;62;p6"/>
          <p:cNvGraphicFramePr/>
          <p:nvPr/>
        </p:nvGraphicFramePr>
        <p:xfrm>
          <a:off x="609600" y="1476375"/>
          <a:ext cx="3000000" cy="3000000"/>
        </p:xfrm>
        <a:graphic>
          <a:graphicData uri="http://schemas.openxmlformats.org/drawingml/2006/table">
            <a:tbl>
              <a:tblPr>
                <a:noFill/>
                <a:tableStyleId>{EAA1BE8A-3703-4408-A911-1FE965638623}</a:tableStyleId>
              </a:tblPr>
              <a:tblGrid>
                <a:gridCol w="3429000"/>
                <a:gridCol w="7524750"/>
              </a:tblGrid>
              <a:tr h="676275">
                <a:tc>
                  <a:txBody>
                    <a:bodyPr/>
                    <a:lstStyle/>
                    <a:p>
                      <a:pPr indent="0" lvl="0" marL="0" marR="0" rtl="0" algn="l">
                        <a:spcBef>
                          <a:spcPts val="0"/>
                        </a:spcBef>
                        <a:spcAft>
                          <a:spcPts val="0"/>
                        </a:spcAft>
                        <a:buClr>
                          <a:srgbClr val="FFFFFF"/>
                        </a:buClr>
                        <a:buSzPts val="2025"/>
                        <a:buFont typeface="Verdana"/>
                        <a:buNone/>
                      </a:pPr>
                      <a:r>
                        <a:rPr b="1" lang="en-US" sz="2025" u="none" cap="none" strike="noStrike">
                          <a:solidFill>
                            <a:srgbClr val="FFFFFF"/>
                          </a:solidFill>
                          <a:latin typeface="Verdana"/>
                          <a:ea typeface="Verdana"/>
                          <a:cs typeface="Verdana"/>
                          <a:sym typeface="Verdana"/>
                        </a:rPr>
                        <a:t>Requirement</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2025"/>
                        <a:buFont typeface="Verdana"/>
                        <a:buNone/>
                      </a:pPr>
                      <a:r>
                        <a:rPr b="1" lang="en-US" sz="2025" u="none" cap="none" strike="noStrike">
                          <a:solidFill>
                            <a:srgbClr val="FFFFFF"/>
                          </a:solidFill>
                          <a:latin typeface="Verdana"/>
                          <a:ea typeface="Verdana"/>
                          <a:cs typeface="Verdana"/>
                          <a:sym typeface="Verdana"/>
                        </a:rPr>
                        <a:t>Planned choice</a:t>
                      </a:r>
                      <a:endParaRPr/>
                    </a:p>
                  </a:txBody>
                  <a:tcPr marT="95250" marB="95250" marR="133350" marL="133350" anchor="ctr">
                    <a:solidFill>
                      <a:srgbClr val="172C40"/>
                    </a:solidFill>
                  </a:tcPr>
                </a:tc>
              </a:tr>
              <a:tr h="6762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Technique</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Binary image classification</a:t>
                      </a:r>
                      <a:endParaRPr/>
                    </a:p>
                  </a:txBody>
                  <a:tcPr marT="95250" marB="95250" marR="133350" marL="133350" anchor="ctr">
                    <a:solidFill>
                      <a:srgbClr val="FFFFFF"/>
                    </a:solidFill>
                  </a:tcPr>
                </a:tc>
              </a:tr>
              <a:tr h="6762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Architecture and model</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CNN using ResNet50</a:t>
                      </a:r>
                      <a:endParaRPr/>
                    </a:p>
                  </a:txBody>
                  <a:tcPr marT="95250" marB="95250" marR="133350" marL="133350" anchor="ctr">
                    <a:solidFill>
                      <a:srgbClr val="EDF4F6"/>
                    </a:solidFill>
                  </a:tcPr>
                </a:tc>
              </a:tr>
              <a:tr h="6762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Learning method</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Transfer learning from pretrained weights</a:t>
                      </a:r>
                      <a:endParaRPr/>
                    </a:p>
                  </a:txBody>
                  <a:tcPr marT="95250" marB="95250" marR="133350" marL="133350" anchor="ctr">
                    <a:solidFill>
                      <a:srgbClr val="FFFFFF"/>
                    </a:solidFill>
                  </a:tcPr>
                </a:tc>
              </a:tr>
              <a:tr h="6762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Framework</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PyTorch and torchvision</a:t>
                      </a:r>
                      <a:endParaRPr/>
                    </a:p>
                  </a:txBody>
                  <a:tcPr marT="95250" marB="95250" marR="133350" marL="133350" anchor="ctr">
                    <a:solidFill>
                      <a:srgbClr val="EDF4F6"/>
                    </a:solidFill>
                  </a:tcPr>
                </a:tc>
              </a:tr>
            </a:tbl>
          </a:graphicData>
        </a:graphic>
      </p:graphicFrame>
      <p:sp>
        <p:nvSpPr>
          <p:cNvPr id="63" name="Google Shape;63;p6"/>
          <p:cNvSpPr/>
          <p:nvPr/>
        </p:nvSpPr>
        <p:spPr>
          <a:xfrm>
            <a:off x="609600" y="5162550"/>
            <a:ext cx="1085850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172C40"/>
                </a:solidFill>
                <a:latin typeface="Verdana"/>
                <a:ea typeface="Verdana"/>
                <a:cs typeface="Verdana"/>
                <a:sym typeface="Verdana"/>
              </a:rPr>
              <a:t>Train the new final layer first. Keep the earlier layers fixed.</a:t>
            </a:r>
            <a:endParaRPr/>
          </a:p>
        </p:txBody>
      </p:sp>
      <p:sp>
        <p:nvSpPr>
          <p:cNvPr id="64" name="Google Shape;64;p6"/>
          <p:cNvSpPr/>
          <p:nvPr/>
        </p:nvSpPr>
        <p:spPr>
          <a:xfrm>
            <a:off x="609600" y="5743575"/>
            <a:ext cx="1085850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solidFill>
                  <a:srgbClr val="475969"/>
                </a:solidFill>
                <a:latin typeface="Verdana"/>
                <a:ea typeface="Verdana"/>
                <a:cs typeface="Verdana"/>
                <a:sym typeface="Verdana"/>
              </a:rPr>
              <a:t>This uses existing visual features and keeps the training scope manageable.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7"/>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Data plan</a:t>
            </a:r>
            <a:endParaRPr/>
          </a:p>
        </p:txBody>
      </p:sp>
      <p:sp>
        <p:nvSpPr>
          <p:cNvPr id="71" name="Google Shape;71;p7"/>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5</a:t>
            </a:r>
            <a:endParaRPr/>
          </a:p>
        </p:txBody>
      </p:sp>
      <p:sp>
        <p:nvSpPr>
          <p:cNvPr id="72" name="Google Shape;72;p7"/>
          <p:cNvSpPr/>
          <p:nvPr/>
        </p:nvSpPr>
        <p:spPr>
          <a:xfrm>
            <a:off x="609600" y="1409700"/>
            <a:ext cx="1095375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176A76"/>
                </a:solidFill>
                <a:latin typeface="Verdana"/>
                <a:ea typeface="Verdana"/>
                <a:cs typeface="Verdana"/>
                <a:sym typeface="Verdana"/>
              </a:rPr>
              <a:t>Kaggle: Chest X-Ray Images (Pneumonia)</a:t>
            </a:r>
            <a:endParaRPr/>
          </a:p>
        </p:txBody>
      </p:sp>
      <p:sp>
        <p:nvSpPr>
          <p:cNvPr id="73" name="Google Shape;73;p7"/>
          <p:cNvSpPr/>
          <p:nvPr/>
        </p:nvSpPr>
        <p:spPr>
          <a:xfrm>
            <a:off x="609600" y="2085975"/>
            <a:ext cx="1095375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solidFill>
                  <a:srgbClr val="172C40"/>
                </a:solidFill>
                <a:latin typeface="Verdana"/>
                <a:ea typeface="Verdana"/>
                <a:cs typeface="Verdana"/>
                <a:sym typeface="Verdana"/>
              </a:rPr>
              <a:t>About 5,800 images. Labels already provided.</a:t>
            </a:r>
            <a:endParaRPr/>
          </a:p>
        </p:txBody>
      </p:sp>
      <p:sp>
        <p:nvSpPr>
          <p:cNvPr id="74" name="Google Shape;74;p7"/>
          <p:cNvSpPr/>
          <p:nvPr/>
        </p:nvSpPr>
        <p:spPr>
          <a:xfrm>
            <a:off x="609600" y="2762250"/>
            <a:ext cx="542925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solidFill>
                  <a:srgbClr val="172C40"/>
                </a:solidFill>
                <a:latin typeface="Verdana"/>
                <a:ea typeface="Verdana"/>
                <a:cs typeface="Verdana"/>
                <a:sym typeface="Verdana"/>
              </a:rPr>
              <a:t>NORMAL and PNEUMONIA</a:t>
            </a:r>
            <a:endParaRPr/>
          </a:p>
          <a:p>
            <a:pPr indent="0" lvl="0" marL="0" marR="0" rtl="0" algn="l">
              <a:spcBef>
                <a:spcPts val="0"/>
              </a:spcBef>
              <a:spcAft>
                <a:spcPts val="0"/>
              </a:spcAft>
              <a:buNone/>
            </a:pPr>
            <a:r>
              <a:rPr lang="en-US" sz="2175">
                <a:solidFill>
                  <a:srgbClr val="172C40"/>
                </a:solidFill>
                <a:latin typeface="Verdana"/>
                <a:ea typeface="Verdana"/>
                <a:cs typeface="Verdana"/>
                <a:sym typeface="Verdana"/>
              </a:rPr>
              <a:t>Pediatric images, ages 1–5</a:t>
            </a:r>
            <a:endParaRPr/>
          </a:p>
        </p:txBody>
      </p:sp>
      <p:sp>
        <p:nvSpPr>
          <p:cNvPr id="75" name="Google Shape;75;p7"/>
          <p:cNvSpPr/>
          <p:nvPr/>
        </p:nvSpPr>
        <p:spPr>
          <a:xfrm>
            <a:off x="609600" y="4191000"/>
            <a:ext cx="3095625"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Training</a:t>
            </a:r>
            <a:endParaRPr/>
          </a:p>
        </p:txBody>
      </p:sp>
      <p:sp>
        <p:nvSpPr>
          <p:cNvPr id="76" name="Google Shape;76;p7"/>
          <p:cNvSpPr/>
          <p:nvPr/>
        </p:nvSpPr>
        <p:spPr>
          <a:xfrm>
            <a:off x="609600" y="4705350"/>
            <a:ext cx="3095625"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solidFill>
                  <a:srgbClr val="172C40"/>
                </a:solidFill>
                <a:latin typeface="Verdana"/>
                <a:ea typeface="Verdana"/>
                <a:cs typeface="Verdana"/>
                <a:sym typeface="Verdana"/>
              </a:rPr>
              <a:t>Learn from the</a:t>
            </a:r>
            <a:endParaRPr/>
          </a:p>
          <a:p>
            <a:pPr indent="0" lvl="0" marL="0" marR="0" rtl="0" algn="l">
              <a:spcBef>
                <a:spcPts val="0"/>
              </a:spcBef>
              <a:spcAft>
                <a:spcPts val="0"/>
              </a:spcAft>
              <a:buNone/>
            </a:pPr>
            <a:r>
              <a:rPr lang="en-US" sz="1950">
                <a:solidFill>
                  <a:srgbClr val="172C40"/>
                </a:solidFill>
                <a:latin typeface="Verdana"/>
                <a:ea typeface="Verdana"/>
                <a:cs typeface="Verdana"/>
                <a:sym typeface="Verdana"/>
              </a:rPr>
              <a:t>development images</a:t>
            </a:r>
            <a:endParaRPr/>
          </a:p>
        </p:txBody>
      </p:sp>
      <p:sp>
        <p:nvSpPr>
          <p:cNvPr id="77" name="Google Shape;77;p7"/>
          <p:cNvSpPr/>
          <p:nvPr/>
        </p:nvSpPr>
        <p:spPr>
          <a:xfrm>
            <a:off x="4324350" y="4191000"/>
            <a:ext cx="3095625"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Validation</a:t>
            </a:r>
            <a:endParaRPr/>
          </a:p>
        </p:txBody>
      </p:sp>
      <p:sp>
        <p:nvSpPr>
          <p:cNvPr id="78" name="Google Shape;78;p7"/>
          <p:cNvSpPr/>
          <p:nvPr/>
        </p:nvSpPr>
        <p:spPr>
          <a:xfrm>
            <a:off x="4324350" y="4705350"/>
            <a:ext cx="3095625"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solidFill>
                  <a:srgbClr val="172C40"/>
                </a:solidFill>
                <a:latin typeface="Verdana"/>
                <a:ea typeface="Verdana"/>
                <a:cs typeface="Verdana"/>
                <a:sym typeface="Verdana"/>
              </a:rPr>
              <a:t>Reserve about 20% of</a:t>
            </a:r>
            <a:endParaRPr/>
          </a:p>
          <a:p>
            <a:pPr indent="0" lvl="0" marL="0" marR="0" rtl="0" algn="l">
              <a:spcBef>
                <a:spcPts val="0"/>
              </a:spcBef>
              <a:spcAft>
                <a:spcPts val="0"/>
              </a:spcAft>
              <a:buNone/>
            </a:pPr>
            <a:r>
              <a:rPr lang="en-US" sz="1950">
                <a:solidFill>
                  <a:srgbClr val="172C40"/>
                </a:solidFill>
                <a:latin typeface="Verdana"/>
                <a:ea typeface="Verdana"/>
                <a:cs typeface="Verdana"/>
                <a:sym typeface="Verdana"/>
              </a:rPr>
              <a:t>development data</a:t>
            </a:r>
            <a:endParaRPr/>
          </a:p>
        </p:txBody>
      </p:sp>
      <p:sp>
        <p:nvSpPr>
          <p:cNvPr id="79" name="Google Shape;79;p7"/>
          <p:cNvSpPr/>
          <p:nvPr/>
        </p:nvSpPr>
        <p:spPr>
          <a:xfrm>
            <a:off x="8039100" y="4191000"/>
            <a:ext cx="3476625"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176A76"/>
                </a:solidFill>
                <a:latin typeface="Verdana"/>
                <a:ea typeface="Verdana"/>
                <a:cs typeface="Verdana"/>
                <a:sym typeface="Verdana"/>
              </a:rPr>
              <a:t>Test</a:t>
            </a:r>
            <a:endParaRPr/>
          </a:p>
        </p:txBody>
      </p:sp>
      <p:sp>
        <p:nvSpPr>
          <p:cNvPr id="80" name="Google Shape;80;p7"/>
          <p:cNvSpPr/>
          <p:nvPr/>
        </p:nvSpPr>
        <p:spPr>
          <a:xfrm>
            <a:off x="8039100" y="4705350"/>
            <a:ext cx="3476625"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solidFill>
                  <a:srgbClr val="172C40"/>
                </a:solidFill>
                <a:latin typeface="Verdana"/>
                <a:ea typeface="Verdana"/>
                <a:cs typeface="Verdana"/>
                <a:sym typeface="Verdana"/>
              </a:rPr>
              <a:t>Keep supplied test</a:t>
            </a:r>
            <a:endParaRPr/>
          </a:p>
          <a:p>
            <a:pPr indent="0" lvl="0" marL="0" marR="0" rtl="0" algn="l">
              <a:spcBef>
                <a:spcPts val="0"/>
              </a:spcBef>
              <a:spcAft>
                <a:spcPts val="0"/>
              </a:spcAft>
              <a:buNone/>
            </a:pPr>
            <a:r>
              <a:rPr lang="en-US" sz="1950">
                <a:solidFill>
                  <a:srgbClr val="172C40"/>
                </a:solidFill>
                <a:latin typeface="Verdana"/>
                <a:ea typeface="Verdana"/>
                <a:cs typeface="Verdana"/>
                <a:sym typeface="Verdana"/>
              </a:rPr>
              <a:t>images for evaluation</a:t>
            </a:r>
            <a:endParaRPr/>
          </a:p>
        </p:txBody>
      </p:sp>
      <p:sp>
        <p:nvSpPr>
          <p:cNvPr id="81" name="Google Shape;81;p7"/>
          <p:cNvSpPr/>
          <p:nvPr/>
        </p:nvSpPr>
        <p:spPr>
          <a:xfrm>
            <a:off x="609600" y="5772150"/>
            <a:ext cx="108585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75">
                <a:solidFill>
                  <a:srgbClr val="172C40"/>
                </a:solidFill>
                <a:latin typeface="Verdana"/>
                <a:ea typeface="Verdana"/>
                <a:cs typeface="Verdana"/>
                <a:sym typeface="Verdana"/>
              </a:rPr>
              <a:t>Check files, class counts, duplicates, and patient overlap before training.</a:t>
            </a:r>
            <a:endParaRPr/>
          </a:p>
        </p:txBody>
      </p:sp>
      <p:sp>
        <p:nvSpPr>
          <p:cNvPr id="82" name="Google Shape;82;p7"/>
          <p:cNvSpPr/>
          <p:nvPr/>
        </p:nvSpPr>
        <p:spPr>
          <a:xfrm>
            <a:off x="609600" y="6315075"/>
            <a:ext cx="103822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u="sng">
                <a:solidFill>
                  <a:schemeClr val="hlink"/>
                </a:solidFill>
                <a:latin typeface="Verdana"/>
                <a:ea typeface="Verdana"/>
                <a:cs typeface="Verdana"/>
                <a:sym typeface="Verdana"/>
                <a:hlinkClick r:id="rId3"/>
              </a:rPr>
              <a:t>Paul Mooney on Kaggle</a:t>
            </a:r>
            <a:r>
              <a:rPr lang="en-US" sz="1275">
                <a:solidFill>
                  <a:srgbClr val="475969"/>
                </a:solidFill>
                <a:latin typeface="Verdana"/>
                <a:ea typeface="Verdana"/>
                <a:cs typeface="Verdana"/>
                <a:sym typeface="Verdana"/>
              </a:rPr>
              <a:t>. CC BY 4.0. Exact usable counts follow the file audit.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8"/>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Success metrics</a:t>
            </a:r>
            <a:endParaRPr/>
          </a:p>
        </p:txBody>
      </p:sp>
      <p:sp>
        <p:nvSpPr>
          <p:cNvPr id="89" name="Google Shape;89;p8"/>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6</a:t>
            </a:r>
            <a:endParaRPr/>
          </a:p>
        </p:txBody>
      </p:sp>
      <p:graphicFrame>
        <p:nvGraphicFramePr>
          <p:cNvPr id="90" name="Google Shape;90;p8"/>
          <p:cNvGraphicFramePr/>
          <p:nvPr/>
        </p:nvGraphicFramePr>
        <p:xfrm>
          <a:off x="609600" y="1571625"/>
          <a:ext cx="3000000" cy="3000000"/>
        </p:xfrm>
        <a:graphic>
          <a:graphicData uri="http://schemas.openxmlformats.org/drawingml/2006/table">
            <a:tbl>
              <a:tblPr>
                <a:noFill/>
                <a:tableStyleId>{EAA1BE8A-3703-4408-A911-1FE965638623}</a:tableStyleId>
              </a:tblPr>
              <a:tblGrid>
                <a:gridCol w="3000375"/>
                <a:gridCol w="2333625"/>
                <a:gridCol w="5619750"/>
              </a:tblGrid>
              <a:tr h="841375">
                <a:tc>
                  <a:txBody>
                    <a:bodyPr/>
                    <a:lstStyle/>
                    <a:p>
                      <a:pPr indent="0" lvl="0" marL="0" marR="0" rtl="0" algn="l">
                        <a:spcBef>
                          <a:spcPts val="0"/>
                        </a:spcBef>
                        <a:spcAft>
                          <a:spcPts val="0"/>
                        </a:spcAft>
                        <a:buClr>
                          <a:srgbClr val="FFFFFF"/>
                        </a:buClr>
                        <a:buSzPts val="2025"/>
                        <a:buFont typeface="Verdana"/>
                        <a:buNone/>
                      </a:pPr>
                      <a:r>
                        <a:rPr b="1" lang="en-US" sz="2025" u="none" cap="none" strike="noStrike">
                          <a:solidFill>
                            <a:srgbClr val="FFFFFF"/>
                          </a:solidFill>
                          <a:latin typeface="Verdana"/>
                          <a:ea typeface="Verdana"/>
                          <a:cs typeface="Verdana"/>
                          <a:sym typeface="Verdana"/>
                        </a:rPr>
                        <a:t>Metric</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2025"/>
                        <a:buFont typeface="Verdana"/>
                        <a:buNone/>
                      </a:pPr>
                      <a:r>
                        <a:rPr b="1" lang="en-US" sz="2025" u="none" cap="none" strike="noStrike">
                          <a:solidFill>
                            <a:srgbClr val="FFFFFF"/>
                          </a:solidFill>
                          <a:latin typeface="Verdana"/>
                          <a:ea typeface="Verdana"/>
                          <a:cs typeface="Verdana"/>
                          <a:sym typeface="Verdana"/>
                        </a:rPr>
                        <a:t>Target</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2025"/>
                        <a:buFont typeface="Verdana"/>
                        <a:buNone/>
                      </a:pPr>
                      <a:r>
                        <a:rPr b="1" lang="en-US" sz="2025" u="none" cap="none" strike="noStrike">
                          <a:solidFill>
                            <a:srgbClr val="FFFFFF"/>
                          </a:solidFill>
                          <a:latin typeface="Verdana"/>
                          <a:ea typeface="Verdana"/>
                          <a:cs typeface="Verdana"/>
                          <a:sym typeface="Verdana"/>
                        </a:rPr>
                        <a:t>What it measures</a:t>
                      </a:r>
                      <a:endParaRPr/>
                    </a:p>
                  </a:txBody>
                  <a:tcPr marT="95250" marB="95250" marR="133350" marL="133350" anchor="ctr">
                    <a:solidFill>
                      <a:srgbClr val="172C40"/>
                    </a:solidFill>
                  </a:tcPr>
                </a:tc>
              </a:tr>
              <a:tr h="8413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Accuracy</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At least 85%</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Correct labels across all test images</a:t>
                      </a:r>
                      <a:endParaRPr/>
                    </a:p>
                  </a:txBody>
                  <a:tcPr marT="95250" marB="95250" marR="133350" marL="133350" anchor="ctr">
                    <a:solidFill>
                      <a:srgbClr val="FFFFFF"/>
                    </a:solidFill>
                  </a:tcPr>
                </a:tc>
              </a:tr>
              <a:tr h="841375">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Pneumonia recall</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At least 90%</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2025"/>
                        <a:buFont typeface="Verdana"/>
                        <a:buNone/>
                      </a:pPr>
                      <a:r>
                        <a:rPr b="0" lang="en-US" sz="2025" u="none" cap="none" strike="noStrike">
                          <a:solidFill>
                            <a:srgbClr val="172C40"/>
                          </a:solidFill>
                          <a:latin typeface="Verdana"/>
                          <a:ea typeface="Verdana"/>
                          <a:cs typeface="Verdana"/>
                          <a:sym typeface="Verdana"/>
                        </a:rPr>
                        <a:t>Pneumonia images correctly identified</a:t>
                      </a:r>
                      <a:endParaRPr/>
                    </a:p>
                  </a:txBody>
                  <a:tcPr marT="95250" marB="95250" marR="133350" marL="133350" anchor="ctr">
                    <a:solidFill>
                      <a:srgbClr val="EDF4F6"/>
                    </a:solidFill>
                  </a:tcPr>
                </a:tc>
              </a:tr>
            </a:tbl>
          </a:graphicData>
        </a:graphic>
      </p:graphicFrame>
      <p:sp>
        <p:nvSpPr>
          <p:cNvPr id="91" name="Google Shape;91;p8"/>
          <p:cNvSpPr/>
          <p:nvPr/>
        </p:nvSpPr>
        <p:spPr>
          <a:xfrm>
            <a:off x="609600" y="4524375"/>
            <a:ext cx="10858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172C40"/>
                </a:solidFill>
                <a:latin typeface="Verdana"/>
                <a:ea typeface="Verdana"/>
                <a:cs typeface="Verdana"/>
                <a:sym typeface="Verdana"/>
              </a:rPr>
              <a:t>Also report the confusion matrix and normal-class recall.</a:t>
            </a:r>
            <a:endParaRPr/>
          </a:p>
        </p:txBody>
      </p:sp>
      <p:sp>
        <p:nvSpPr>
          <p:cNvPr id="92" name="Google Shape;92;p8"/>
          <p:cNvSpPr/>
          <p:nvPr/>
        </p:nvSpPr>
        <p:spPr>
          <a:xfrm>
            <a:off x="609600" y="5219700"/>
            <a:ext cx="10858500" cy="819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solidFill>
                  <a:srgbClr val="172C40"/>
                </a:solidFill>
                <a:latin typeface="Verdana"/>
                <a:ea typeface="Verdana"/>
                <a:cs typeface="Verdana"/>
                <a:sym typeface="Verdana"/>
              </a:rPr>
              <a:t>Choose settings on validation data. Evaluate the selected model</a:t>
            </a:r>
            <a:endParaRPr/>
          </a:p>
          <a:p>
            <a:pPr indent="0" lvl="0" marL="0" marR="0" rtl="0" algn="l">
              <a:spcBef>
                <a:spcPts val="0"/>
              </a:spcBef>
              <a:spcAft>
                <a:spcPts val="0"/>
              </a:spcAft>
              <a:buNone/>
            </a:pPr>
            <a:r>
              <a:rPr lang="en-US" sz="2025">
                <a:solidFill>
                  <a:srgbClr val="172C40"/>
                </a:solidFill>
                <a:latin typeface="Verdana"/>
                <a:ea typeface="Verdana"/>
                <a:cs typeface="Verdana"/>
                <a:sym typeface="Verdana"/>
              </a:rPr>
              <a:t>on the reserved test set.</a:t>
            </a:r>
            <a:endParaRPr/>
          </a:p>
        </p:txBody>
      </p:sp>
      <p:sp>
        <p:nvSpPr>
          <p:cNvPr id="93" name="Google Shape;93;p8"/>
          <p:cNvSpPr/>
          <p:nvPr/>
        </p:nvSpPr>
        <p:spPr>
          <a:xfrm>
            <a:off x="609600" y="6238875"/>
            <a:ext cx="103822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75">
                <a:solidFill>
                  <a:srgbClr val="475969"/>
                </a:solidFill>
                <a:latin typeface="Verdana"/>
                <a:ea typeface="Verdana"/>
                <a:cs typeface="Verdana"/>
                <a:sym typeface="Verdana"/>
              </a:rPr>
              <a:t>These are planned targets. No results have been measured yet.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9"/>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Milestone plan</a:t>
            </a:r>
            <a:endParaRPr/>
          </a:p>
        </p:txBody>
      </p:sp>
      <p:sp>
        <p:nvSpPr>
          <p:cNvPr id="100" name="Google Shape;100;p9"/>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7</a:t>
            </a:r>
            <a:endParaRPr/>
          </a:p>
        </p:txBody>
      </p:sp>
      <p:graphicFrame>
        <p:nvGraphicFramePr>
          <p:cNvPr id="101" name="Google Shape;101;p9"/>
          <p:cNvGraphicFramePr/>
          <p:nvPr/>
        </p:nvGraphicFramePr>
        <p:xfrm>
          <a:off x="609600" y="1428750"/>
          <a:ext cx="3000000" cy="3000000"/>
        </p:xfrm>
        <a:graphic>
          <a:graphicData uri="http://schemas.openxmlformats.org/drawingml/2006/table">
            <a:tbl>
              <a:tblPr>
                <a:noFill/>
                <a:tableStyleId>{EAA1BE8A-3703-4408-A911-1FE965638623}</a:tableStyleId>
              </a:tblPr>
              <a:tblGrid>
                <a:gridCol w="1190625"/>
                <a:gridCol w="3095625"/>
                <a:gridCol w="6667500"/>
              </a:tblGrid>
              <a:tr h="682625">
                <a:tc>
                  <a:txBody>
                    <a:bodyPr/>
                    <a:lstStyle/>
                    <a:p>
                      <a:pPr indent="0" lvl="0" marL="0" marR="0" rtl="0" algn="l">
                        <a:spcBef>
                          <a:spcPts val="0"/>
                        </a:spcBef>
                        <a:spcAft>
                          <a:spcPts val="0"/>
                        </a:spcAft>
                        <a:buClr>
                          <a:srgbClr val="FFFFFF"/>
                        </a:buClr>
                        <a:buSzPts val="1875"/>
                        <a:buFont typeface="Verdana"/>
                        <a:buNone/>
                      </a:pPr>
                      <a:r>
                        <a:rPr b="1" lang="en-US" sz="1875" u="none" cap="none" strike="noStrike">
                          <a:solidFill>
                            <a:srgbClr val="FFFFFF"/>
                          </a:solidFill>
                          <a:latin typeface="Verdana"/>
                          <a:ea typeface="Verdana"/>
                          <a:cs typeface="Verdana"/>
                          <a:sym typeface="Verdana"/>
                        </a:rPr>
                        <a:t>Week</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1875"/>
                        <a:buFont typeface="Verdana"/>
                        <a:buNone/>
                      </a:pPr>
                      <a:r>
                        <a:rPr b="1" lang="en-US" sz="1875" u="none" cap="none" strike="noStrike">
                          <a:solidFill>
                            <a:srgbClr val="FFFFFF"/>
                          </a:solidFill>
                          <a:latin typeface="Verdana"/>
                          <a:ea typeface="Verdana"/>
                          <a:cs typeface="Verdana"/>
                          <a:sym typeface="Verdana"/>
                        </a:rPr>
                        <a:t>Phase</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1875"/>
                        <a:buFont typeface="Verdana"/>
                        <a:buNone/>
                      </a:pPr>
                      <a:r>
                        <a:rPr b="1" lang="en-US" sz="1875" u="none" cap="none" strike="noStrike">
                          <a:solidFill>
                            <a:srgbClr val="FFFFFF"/>
                          </a:solidFill>
                          <a:latin typeface="Verdana"/>
                          <a:ea typeface="Verdana"/>
                          <a:cs typeface="Verdana"/>
                          <a:sym typeface="Verdana"/>
                        </a:rPr>
                        <a:t>Completion checkpoint</a:t>
                      </a:r>
                      <a:endParaRPr/>
                    </a:p>
                  </a:txBody>
                  <a:tcPr marT="95250" marB="95250" marR="133350" marL="133350" anchor="ctr">
                    <a:solidFill>
                      <a:srgbClr val="172C40"/>
                    </a:solidFill>
                  </a:tcPr>
                </a:tc>
              </a:tr>
              <a:tr h="682625">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10</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Blueprint</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Proposal, README, and recording submitted</a:t>
                      </a:r>
                      <a:endParaRPr/>
                    </a:p>
                  </a:txBody>
                  <a:tcPr marT="95250" marB="95250" marR="133350" marL="133350" anchor="ctr">
                    <a:solidFill>
                      <a:srgbClr val="FFFFFF"/>
                    </a:solidFill>
                  </a:tcPr>
                </a:tc>
              </a:tr>
              <a:tr h="682625">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11</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First working demo</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Input passes through the model to displayed output</a:t>
                      </a:r>
                      <a:endParaRPr/>
                    </a:p>
                  </a:txBody>
                  <a:tcPr marT="95250" marB="95250" marR="133350" marL="133350" anchor="ctr">
                    <a:solidFill>
                      <a:srgbClr val="EDF4F6"/>
                    </a:solidFill>
                  </a:tcPr>
                </a:tc>
              </a:tr>
              <a:tr h="682625">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12–13</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Make it yours</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Data prepared, model adapted, application working</a:t>
                      </a:r>
                      <a:endParaRPr/>
                    </a:p>
                  </a:txBody>
                  <a:tcPr marT="95250" marB="95250" marR="133350" marL="133350" anchor="ctr">
                    <a:solidFill>
                      <a:srgbClr val="FFFFFF"/>
                    </a:solidFill>
                  </a:tcPr>
                </a:tc>
              </a:tr>
              <a:tr h="682625">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14</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Improve and measure</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Metrics and failure examples recorded</a:t>
                      </a:r>
                      <a:endParaRPr/>
                    </a:p>
                  </a:txBody>
                  <a:tcPr marT="95250" marB="95250" marR="133350" marL="133350" anchor="ctr">
                    <a:solidFill>
                      <a:srgbClr val="EDF4F6"/>
                    </a:solidFill>
                  </a:tcPr>
                </a:tc>
              </a:tr>
              <a:tr h="682625">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15</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Package and present</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875"/>
                        <a:buFont typeface="Verdana"/>
                        <a:buNone/>
                      </a:pPr>
                      <a:r>
                        <a:rPr b="0" lang="en-US" sz="1875" u="none" cap="none" strike="noStrike">
                          <a:solidFill>
                            <a:srgbClr val="172C40"/>
                          </a:solidFill>
                          <a:latin typeface="Verdana"/>
                          <a:ea typeface="Verdana"/>
                          <a:cs typeface="Verdana"/>
                          <a:sym typeface="Verdana"/>
                        </a:rPr>
                        <a:t>Final slides, demo video, and repository ready</a:t>
                      </a:r>
                      <a:endParaRPr/>
                    </a:p>
                  </a:txBody>
                  <a:tcPr marT="95250" marB="95250" marR="133350" marL="133350" anchor="ctr">
                    <a:solidFill>
                      <a:srgbClr val="FFFFFF"/>
                    </a:solidFill>
                  </a:tcPr>
                </a:tc>
              </a:tr>
            </a:tbl>
          </a:graphicData>
        </a:graphic>
      </p:graphicFrame>
      <p:sp>
        <p:nvSpPr>
          <p:cNvPr id="102" name="Google Shape;102;p9"/>
          <p:cNvSpPr/>
          <p:nvPr/>
        </p:nvSpPr>
        <p:spPr>
          <a:xfrm>
            <a:off x="609600" y="5810250"/>
            <a:ext cx="1085850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172C40"/>
                </a:solidFill>
                <a:latin typeface="Verdana"/>
                <a:ea typeface="Verdana"/>
                <a:cs typeface="Verdana"/>
                <a:sym typeface="Verdana"/>
              </a:rPr>
              <a:t>Plan: 2.5 hours on weekdays, plus some Saturdays.</a:t>
            </a:r>
            <a:endParaRPr/>
          </a:p>
        </p:txBody>
      </p:sp>
      <p:sp>
        <p:nvSpPr>
          <p:cNvPr id="103" name="Google Shape;103;p9"/>
          <p:cNvSpPr/>
          <p:nvPr/>
        </p:nvSpPr>
        <p:spPr>
          <a:xfrm>
            <a:off x="609600" y="6286500"/>
            <a:ext cx="103822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00">
                <a:solidFill>
                  <a:srgbClr val="475969"/>
                </a:solidFill>
                <a:latin typeface="Verdana"/>
                <a:ea typeface="Verdana"/>
                <a:cs typeface="Verdana"/>
                <a:sym typeface="Verdana"/>
              </a:rPr>
              <a:t>Course week numbers shown. The final date will follow Canvas.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10"/>
          <p:cNvSpPr/>
          <p:nvPr/>
        </p:nvSpPr>
        <p:spPr>
          <a:xfrm>
            <a:off x="609600" y="419100"/>
            <a:ext cx="1091565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300">
                <a:solidFill>
                  <a:srgbClr val="172C40"/>
                </a:solidFill>
                <a:latin typeface="Verdana"/>
                <a:ea typeface="Verdana"/>
                <a:cs typeface="Verdana"/>
                <a:sym typeface="Verdana"/>
              </a:rPr>
              <a:t>Risks and resources</a:t>
            </a:r>
            <a:endParaRPr/>
          </a:p>
        </p:txBody>
      </p:sp>
      <p:sp>
        <p:nvSpPr>
          <p:cNvPr id="110" name="Google Shape;110;p10"/>
          <p:cNvSpPr/>
          <p:nvPr/>
        </p:nvSpPr>
        <p:spPr>
          <a:xfrm>
            <a:off x="11191875" y="6410325"/>
            <a:ext cx="3810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50">
                <a:solidFill>
                  <a:srgbClr val="475969"/>
                </a:solidFill>
                <a:latin typeface="Verdana"/>
                <a:ea typeface="Verdana"/>
                <a:cs typeface="Verdana"/>
                <a:sym typeface="Verdana"/>
              </a:rPr>
              <a:t>8</a:t>
            </a:r>
            <a:endParaRPr/>
          </a:p>
        </p:txBody>
      </p:sp>
      <p:graphicFrame>
        <p:nvGraphicFramePr>
          <p:cNvPr id="111" name="Google Shape;111;p10"/>
          <p:cNvGraphicFramePr/>
          <p:nvPr/>
        </p:nvGraphicFramePr>
        <p:xfrm>
          <a:off x="609600" y="1428750"/>
          <a:ext cx="3000000" cy="3000000"/>
        </p:xfrm>
        <a:graphic>
          <a:graphicData uri="http://schemas.openxmlformats.org/drawingml/2006/table">
            <a:tbl>
              <a:tblPr>
                <a:noFill/>
                <a:tableStyleId>{EAA1BE8A-3703-4408-A911-1FE965638623}</a:tableStyleId>
              </a:tblPr>
              <a:tblGrid>
                <a:gridCol w="3762375"/>
                <a:gridCol w="7191375"/>
              </a:tblGrid>
              <a:tr h="946150">
                <a:tc>
                  <a:txBody>
                    <a:bodyPr/>
                    <a:lstStyle/>
                    <a:p>
                      <a:pPr indent="0" lvl="0" marL="0" marR="0" rtl="0" algn="l">
                        <a:spcBef>
                          <a:spcPts val="0"/>
                        </a:spcBef>
                        <a:spcAft>
                          <a:spcPts val="0"/>
                        </a:spcAft>
                        <a:buClr>
                          <a:srgbClr val="FFFFFF"/>
                        </a:buClr>
                        <a:buSzPts val="1950"/>
                        <a:buFont typeface="Verdana"/>
                        <a:buNone/>
                      </a:pPr>
                      <a:r>
                        <a:rPr b="1" lang="en-US" sz="1950" u="none" cap="none" strike="noStrike">
                          <a:solidFill>
                            <a:srgbClr val="FFFFFF"/>
                          </a:solidFill>
                          <a:latin typeface="Verdana"/>
                          <a:ea typeface="Verdana"/>
                          <a:cs typeface="Verdana"/>
                          <a:sym typeface="Verdana"/>
                        </a:rPr>
                        <a:t>Risk</a:t>
                      </a:r>
                      <a:endParaRPr/>
                    </a:p>
                  </a:txBody>
                  <a:tcPr marT="95250" marB="95250" marR="133350" marL="133350" anchor="ctr">
                    <a:solidFill>
                      <a:srgbClr val="172C40"/>
                    </a:solidFill>
                  </a:tcPr>
                </a:tc>
                <a:tc>
                  <a:txBody>
                    <a:bodyPr/>
                    <a:lstStyle/>
                    <a:p>
                      <a:pPr indent="0" lvl="0" marL="0" marR="0" rtl="0" algn="l">
                        <a:spcBef>
                          <a:spcPts val="0"/>
                        </a:spcBef>
                        <a:spcAft>
                          <a:spcPts val="0"/>
                        </a:spcAft>
                        <a:buClr>
                          <a:srgbClr val="FFFFFF"/>
                        </a:buClr>
                        <a:buSzPts val="1950"/>
                        <a:buFont typeface="Verdana"/>
                        <a:buNone/>
                      </a:pPr>
                      <a:r>
                        <a:rPr b="1" lang="en-US" sz="1950" u="none" cap="none" strike="noStrike">
                          <a:solidFill>
                            <a:srgbClr val="FFFFFF"/>
                          </a:solidFill>
                          <a:latin typeface="Verdana"/>
                          <a:ea typeface="Verdana"/>
                          <a:cs typeface="Verdana"/>
                          <a:sym typeface="Verdana"/>
                        </a:rPr>
                        <a:t>Plan B</a:t>
                      </a:r>
                      <a:endParaRPr/>
                    </a:p>
                  </a:txBody>
                  <a:tcPr marT="95250" marB="95250" marR="133350" marL="133350" anchor="ctr">
                    <a:solidFill>
                      <a:srgbClr val="172C40"/>
                    </a:solidFill>
                  </a:tcPr>
                </a:tc>
              </a:tr>
              <a:tr h="946150">
                <a:tc>
                  <a:txBody>
                    <a:bodyPr/>
                    <a:lstStyle/>
                    <a:p>
                      <a:pPr indent="0" lvl="0" marL="0" marR="0" rtl="0" algn="l">
                        <a:spcBef>
                          <a:spcPts val="0"/>
                        </a:spcBef>
                        <a:spcAft>
                          <a:spcPts val="0"/>
                        </a:spcAft>
                        <a:buClr>
                          <a:srgbClr val="172C40"/>
                        </a:buClr>
                        <a:buSzPts val="1950"/>
                        <a:buFont typeface="Verdana"/>
                        <a:buNone/>
                      </a:pPr>
                      <a:r>
                        <a:rPr b="0" lang="en-US" sz="1950" u="none" cap="none" strike="noStrike">
                          <a:solidFill>
                            <a:srgbClr val="172C40"/>
                          </a:solidFill>
                          <a:latin typeface="Verdana"/>
                          <a:ea typeface="Verdana"/>
                          <a:cs typeface="Verdana"/>
                          <a:sym typeface="Verdana"/>
                        </a:rPr>
                        <a:t>Uneven or misleading performance</a:t>
                      </a:r>
                      <a:endParaRPr/>
                    </a:p>
                  </a:txBody>
                  <a:tcPr marT="95250" marB="95250" marR="133350" marL="133350" anchor="ctr">
                    <a:solidFill>
                      <a:srgbClr val="FFFFFF"/>
                    </a:solidFill>
                  </a:tcPr>
                </a:tc>
                <a:tc>
                  <a:txBody>
                    <a:bodyPr/>
                    <a:lstStyle/>
                    <a:p>
                      <a:pPr indent="0" lvl="0" marL="0" marR="0" rtl="0" algn="l">
                        <a:spcBef>
                          <a:spcPts val="0"/>
                        </a:spcBef>
                        <a:spcAft>
                          <a:spcPts val="0"/>
                        </a:spcAft>
                        <a:buClr>
                          <a:srgbClr val="172C40"/>
                        </a:buClr>
                        <a:buSzPts val="1950"/>
                        <a:buFont typeface="Verdana"/>
                        <a:buNone/>
                      </a:pPr>
                      <a:r>
                        <a:rPr b="0" lang="en-US" sz="1950" u="none" cap="none" strike="noStrike">
                          <a:solidFill>
                            <a:srgbClr val="172C40"/>
                          </a:solidFill>
                          <a:latin typeface="Verdana"/>
                          <a:ea typeface="Verdana"/>
                          <a:cs typeface="Verdana"/>
                          <a:sym typeface="Verdana"/>
                        </a:rPr>
                        <a:t>Check splits and both classes. Use class weighting if needed. Report failures and limits.</a:t>
                      </a:r>
                      <a:endParaRPr/>
                    </a:p>
                  </a:txBody>
                  <a:tcPr marT="95250" marB="95250" marR="133350" marL="133350" anchor="ctr">
                    <a:solidFill>
                      <a:srgbClr val="FFFFFF"/>
                    </a:solidFill>
                  </a:tcPr>
                </a:tc>
              </a:tr>
              <a:tr h="946150">
                <a:tc>
                  <a:txBody>
                    <a:bodyPr/>
                    <a:lstStyle/>
                    <a:p>
                      <a:pPr indent="0" lvl="0" marL="0" marR="0" rtl="0" algn="l">
                        <a:spcBef>
                          <a:spcPts val="0"/>
                        </a:spcBef>
                        <a:spcAft>
                          <a:spcPts val="0"/>
                        </a:spcAft>
                        <a:buClr>
                          <a:srgbClr val="172C40"/>
                        </a:buClr>
                        <a:buSzPts val="1950"/>
                        <a:buFont typeface="Verdana"/>
                        <a:buNone/>
                      </a:pPr>
                      <a:r>
                        <a:rPr b="0" lang="en-US" sz="1950" u="none" cap="none" strike="noStrike">
                          <a:solidFill>
                            <a:srgbClr val="172C40"/>
                          </a:solidFill>
                          <a:latin typeface="Verdana"/>
                          <a:ea typeface="Verdana"/>
                          <a:cs typeface="Verdana"/>
                          <a:sym typeface="Verdana"/>
                        </a:rPr>
                        <a:t>Colab resource limits</a:t>
                      </a:r>
                      <a:endParaRPr/>
                    </a:p>
                  </a:txBody>
                  <a:tcPr marT="95250" marB="95250" marR="133350" marL="133350" anchor="ctr">
                    <a:solidFill>
                      <a:srgbClr val="EDF4F6"/>
                    </a:solidFill>
                  </a:tcPr>
                </a:tc>
                <a:tc>
                  <a:txBody>
                    <a:bodyPr/>
                    <a:lstStyle/>
                    <a:p>
                      <a:pPr indent="0" lvl="0" marL="0" marR="0" rtl="0" algn="l">
                        <a:spcBef>
                          <a:spcPts val="0"/>
                        </a:spcBef>
                        <a:spcAft>
                          <a:spcPts val="0"/>
                        </a:spcAft>
                        <a:buClr>
                          <a:srgbClr val="172C40"/>
                        </a:buClr>
                        <a:buSzPts val="1950"/>
                        <a:buFont typeface="Verdana"/>
                        <a:buNone/>
                      </a:pPr>
                      <a:r>
                        <a:rPr b="0" lang="en-US" sz="1950" u="none" cap="none" strike="noStrike">
                          <a:solidFill>
                            <a:srgbClr val="172C40"/>
                          </a:solidFill>
                          <a:latin typeface="Verdana"/>
                          <a:ea typeface="Verdana"/>
                          <a:cs typeface="Verdana"/>
                          <a:sym typeface="Verdana"/>
                        </a:rPr>
                        <a:t>Train only the final layer, use smaller batches, and save checkpoints to Drive.</a:t>
                      </a:r>
                      <a:endParaRPr/>
                    </a:p>
                  </a:txBody>
                  <a:tcPr marT="95250" marB="95250" marR="133350" marL="133350" anchor="ctr">
                    <a:solidFill>
                      <a:srgbClr val="EDF4F6"/>
                    </a:solidFill>
                  </a:tcPr>
                </a:tc>
              </a:tr>
            </a:tbl>
          </a:graphicData>
        </a:graphic>
      </p:graphicFrame>
      <p:sp>
        <p:nvSpPr>
          <p:cNvPr id="112" name="Google Shape;112;p10"/>
          <p:cNvSpPr/>
          <p:nvPr/>
        </p:nvSpPr>
        <p:spPr>
          <a:xfrm>
            <a:off x="609600" y="4772025"/>
            <a:ext cx="5381625"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76A76"/>
                </a:solidFill>
                <a:latin typeface="Verdana"/>
                <a:ea typeface="Verdana"/>
                <a:cs typeface="Verdana"/>
                <a:sym typeface="Verdana"/>
              </a:rPr>
              <a:t>Google Colab free tier</a:t>
            </a:r>
            <a:endParaRPr/>
          </a:p>
        </p:txBody>
      </p:sp>
      <p:sp>
        <p:nvSpPr>
          <p:cNvPr id="113" name="Google Shape;113;p10"/>
          <p:cNvSpPr/>
          <p:nvPr/>
        </p:nvSpPr>
        <p:spPr>
          <a:xfrm>
            <a:off x="7077075" y="4772025"/>
            <a:ext cx="4438650" cy="438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176A76"/>
                </a:solidFill>
                <a:latin typeface="Verdana"/>
                <a:ea typeface="Verdana"/>
                <a:cs typeface="Verdana"/>
                <a:sym typeface="Verdana"/>
              </a:rPr>
              <a:t>Planned cost: $0</a:t>
            </a:r>
            <a:endParaRPr/>
          </a:p>
        </p:txBody>
      </p:sp>
      <p:sp>
        <p:nvSpPr>
          <p:cNvPr id="114" name="Google Shape;114;p10"/>
          <p:cNvSpPr/>
          <p:nvPr/>
        </p:nvSpPr>
        <p:spPr>
          <a:xfrm>
            <a:off x="609600" y="5362575"/>
            <a:ext cx="10858500" cy="8667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solidFill>
                  <a:srgbClr val="172C40"/>
                </a:solidFill>
                <a:latin typeface="Verdana"/>
                <a:ea typeface="Verdana"/>
                <a:cs typeface="Verdana"/>
                <a:sym typeface="Verdana"/>
              </a:rPr>
              <a:t>PyTorch, torchvision, ResNet50, and a public Kaggle dataset.</a:t>
            </a:r>
            <a:endParaRPr/>
          </a:p>
          <a:p>
            <a:pPr indent="0" lvl="0" marL="0" marR="0" rtl="0" algn="l">
              <a:spcBef>
                <a:spcPts val="0"/>
              </a:spcBef>
              <a:spcAft>
                <a:spcPts val="0"/>
              </a:spcAft>
              <a:buNone/>
            </a:pPr>
            <a:r>
              <a:rPr lang="en-US" sz="2025">
                <a:solidFill>
                  <a:srgbClr val="172C40"/>
                </a:solidFill>
                <a:latin typeface="Verdana"/>
                <a:ea typeface="Verdana"/>
                <a:cs typeface="Verdana"/>
                <a:sym typeface="Verdana"/>
              </a:rPr>
              <a:t>All planned resources are free tier or open source.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